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7"/>
  </p:notesMasterIdLst>
  <p:sldIdLst>
    <p:sldId id="2566" r:id="rId5"/>
    <p:sldId id="2592" r:id="rId6"/>
    <p:sldId id="271" r:id="rId7"/>
    <p:sldId id="2567" r:id="rId8"/>
    <p:sldId id="2568" r:id="rId9"/>
    <p:sldId id="2569" r:id="rId10"/>
    <p:sldId id="2570" r:id="rId11"/>
    <p:sldId id="2571" r:id="rId12"/>
    <p:sldId id="2572" r:id="rId13"/>
    <p:sldId id="2573" r:id="rId14"/>
    <p:sldId id="2574" r:id="rId15"/>
    <p:sldId id="2575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ing New Hires, Celebrating Service Anniversaries, and People Updates" id="{D2650573-CBF5-7D4F-8533-068732858000}">
          <p14:sldIdLst>
            <p14:sldId id="2566"/>
            <p14:sldId id="2592"/>
            <p14:sldId id="271"/>
            <p14:sldId id="2567"/>
            <p14:sldId id="2568"/>
            <p14:sldId id="2569"/>
            <p14:sldId id="2570"/>
            <p14:sldId id="2571"/>
            <p14:sldId id="2572"/>
            <p14:sldId id="2573"/>
            <p14:sldId id="2574"/>
            <p14:sldId id="2575"/>
          </p14:sldIdLst>
        </p14:section>
        <p14:section name="Introduction of New Hires" id="{3804C454-386C-2946-852E-320BE175A898}">
          <p14:sldIdLst/>
        </p14:section>
        <p14:section name="Service Anniversaries Celebration" id="{02255CB3-9CCE-394D-91C8-60D5E32FDAC5}">
          <p14:sldIdLst/>
        </p14:section>
        <p14:section name="People Updates" id="{09219DE5-29EE-DE4C-A4C3-F0F4D7489F02}">
          <p14:sldIdLst/>
        </p14:section>
        <p14:section name="Fostering Team Engagement" id="{6BD59713-7DAF-9142-9A6B-7ACAE7AD2E4B}">
          <p14:sldIdLst/>
        </p14:section>
        <p14:section name="Conclusion" id="{C911C656-866D-6048-9EDB-6A471F39C42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1AC0FB-DC85-8DDB-2A4E-738EE2436A97}" name="Swati Sahai" initials="SS" userId="S::ssahai1@wsgc.com::9450f0ec-c73c-40d5-b58d-dbe25043b2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6B66"/>
    <a:srgbClr val="DEE3EA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746"/>
  </p:normalViewPr>
  <p:slideViewPr>
    <p:cSldViewPr snapToGrid="0">
      <p:cViewPr varScale="1">
        <p:scale>
          <a:sx n="87" d="100"/>
          <a:sy n="87" d="100"/>
        </p:scale>
        <p:origin x="9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37D76D2-7529-46D3-AE5E-D6AB19C3404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4A8DDF6-06A9-4E3B-A03F-C696C23B5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19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https//</a:t>
            </a:r>
            <a:r>
              <a:rPr lang="en-US" dirty="0" err="1"/>
              <a:t>youtu.be</a:t>
            </a:r>
            <a:r>
              <a:rPr lang="en-US" dirty="0"/>
              <a:t>/oqC5FZj-Avo?si=HR_fi6DKzieUDQBG  Do it Again, Steely Dan</a:t>
            </a:r>
            <a:br>
              <a:rPr lang="en-US" dirty="0"/>
            </a:br>
            <a:r>
              <a:rPr lang="en-US" dirty="0"/>
              <a:t>https//</a:t>
            </a:r>
            <a:r>
              <a:rPr lang="en-US" dirty="0" err="1"/>
              <a:t>music.youtube.com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=7xvvLT_jRZY&amp;list=RDAMVM7xvvLT_jRZY  Lowdown, Boz Scaggs</a:t>
            </a:r>
          </a:p>
          <a:p>
            <a:r>
              <a:rPr lang="en-US" dirty="0"/>
              <a:t>https//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=zF3PKGftlj4  THEE SACRED SOULS, CAN I CALL YOU ROSE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DDF6-06A9-4E3B-A03F-C696C23B54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03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2C6E-C409-4D9D-ACBD-A3968FFD3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1D23A-3C0A-DD30-14AF-85A0923DC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5E600-234B-D9A9-E0DD-AEF0178B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15D10-B384-0FAA-F08A-98AAF378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01E45-E514-42EF-6780-144477A8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226A-C3B8-ABED-77A7-6A4DA5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73A61-BFF7-6A90-0223-8ACF984C3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5947D-9569-4993-7C9C-FAF4A63E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7F3C3-2532-91AE-8251-6E8AC0E5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355F7-A0A0-75AD-8304-2608783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8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7C54-E587-7C6E-6ADD-40D3489F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C948F-1558-A007-DCEA-895111A15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6D367-20F0-4400-EFFB-FCEA13A4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7F850-8D69-F787-C473-27C0AC4D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69DBA-731E-E863-3AD5-D34068B9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6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A9AF-0803-E3FB-2A53-9928ADB8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9F975-CB8D-1C10-D295-237C0650C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1C85F-7DE3-0EE0-A607-E79F93385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9EED4-3A86-86F3-8FC0-E30FA714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48954-1CF5-5A40-CA4D-6CC4D0D3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204E8-AB47-4632-CC3C-E3EFA010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5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21C9-BA49-6B02-490A-46D546ADF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950D4-373F-1789-DD4A-5B296C8C5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0DB4C-2EE0-DEDE-6737-956400E41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A78228-53CF-2A3E-130F-E7DF88B7D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F9278-D2AB-B0F7-A8A2-F579BD0D7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E6F37-C100-57F5-1AE7-D63D6451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56AC5-6BB7-767A-14D4-880B09F1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87ECB-FE4C-4BAC-98FA-FFDA774F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0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5BAE-3576-6E09-3763-AE929213C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743FA-90EF-29A3-BC3E-1D639A09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EE35D-89B2-8F37-564F-4080B145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105F0-92AA-BFBB-CB48-D645CF25C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4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B5CCE-CF7C-B0B4-AF95-88B13BE8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3296B-3E86-5FCB-0DF1-03F9B9AE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30CA8-C623-35B7-7D74-71D68980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1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F0FB-1AB5-BCC0-3C55-ECA52744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03BC1-4A10-FDFF-12DE-1B683BF14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61BA6-7740-6CB4-49A5-0A056038D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2DF5A-BBE5-995D-539A-4B0A8FAB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22A84-7536-275C-4D30-2B00641E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EA113-AC30-6AF2-9BE1-A9929A5B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15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5D32-DD05-8AE1-C261-FB82BA467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BCF3AF-EC2A-2DC6-0B00-ED5B53282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A7F90-AF86-EC93-A070-A656BFC22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A01A5-778D-4FCF-D8DB-BAC77DD4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DC2BF-EC47-ED0F-C477-AF286AB84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D5067-F743-9A6B-49E1-335163CE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4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AECB-5233-6A75-5920-336CD154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62D9A-C64B-93BC-83C1-065012BFC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1101D-F2FC-9582-CCA9-EEFE07D3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D1499-0A40-405D-EE0C-4CBD7B85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2CE50-887A-EE2A-F6FB-E8366BA0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8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5B014-BD81-AC0A-6CC4-674B4052A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8C1F3-86C8-BDF9-1E32-21ACB4FE5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7CC3A-3A04-E544-3DE9-5D70187C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3EA0-8407-EE8B-7DF7-47AD4C5A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FBCB2-3BE6-B001-79E9-D88CBFA5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26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/Content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2128763"/>
            <a:ext cx="5323921" cy="361965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6208887" y="2128839"/>
            <a:ext cx="5537499" cy="3619583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609600" y="955525"/>
            <a:ext cx="10972800" cy="798286"/>
          </a:xfrm>
        </p:spPr>
        <p:txBody>
          <a:bodyPr>
            <a:normAutofit/>
          </a:bodyPr>
          <a:lstStyle>
            <a:lvl1pPr>
              <a:defRPr sz="35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9600" y="701526"/>
            <a:ext cx="10972800" cy="495525"/>
          </a:xfrm>
        </p:spPr>
        <p:txBody>
          <a:bodyPr>
            <a:noAutofit/>
          </a:bodyPr>
          <a:lstStyle>
            <a:lvl1pPr marL="0" indent="0" algn="ctr">
              <a:buNone/>
              <a:defRPr sz="2000" i="1">
                <a:solidFill>
                  <a:srgbClr val="000000"/>
                </a:solidFill>
                <a:latin typeface="Georgia"/>
                <a:cs typeface="Georgi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6461C-5F5D-537B-04D6-FBD8367659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200">
                <a:solidFill>
                  <a:srgbClr val="000000"/>
                </a:solidFill>
                <a:latin typeface="Georgia"/>
                <a:cs typeface="Georgia"/>
              </a:defRPr>
            </a:lvl1pPr>
          </a:lstStyle>
          <a:p>
            <a:pPr>
              <a:defRPr/>
            </a:pPr>
            <a:r>
              <a:rPr lang="en-US"/>
              <a:t>Presentation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7F78-E907-7733-4F72-8BF3D4DCEB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fld id="{0DC3B331-7D3F-44BC-88D5-F143A7D1A0EC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DD5FC3-C3A7-C6A7-D453-847E176058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059715"/>
            <a:ext cx="12191999" cy="79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254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423BA6-993C-ECC2-3C3F-BBB5C2596C5E}"/>
              </a:ext>
            </a:extLst>
          </p:cNvPr>
          <p:cNvSpPr/>
          <p:nvPr userDrawn="1"/>
        </p:nvSpPr>
        <p:spPr>
          <a:xfrm>
            <a:off x="-69850" y="6002338"/>
            <a:ext cx="12321117" cy="8556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55525"/>
            <a:ext cx="10972800" cy="798286"/>
          </a:xfrm>
        </p:spPr>
        <p:txBody>
          <a:bodyPr>
            <a:normAutofit/>
          </a:bodyPr>
          <a:lstStyle>
            <a:lvl1pPr>
              <a:defRPr sz="3500">
                <a:solidFill>
                  <a:srgbClr val="000000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28763"/>
            <a:ext cx="10972800" cy="342928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9600" y="701526"/>
            <a:ext cx="10972800" cy="495525"/>
          </a:xfrm>
        </p:spPr>
        <p:txBody>
          <a:bodyPr>
            <a:noAutofit/>
          </a:bodyPr>
          <a:lstStyle>
            <a:lvl1pPr marL="0" indent="0" algn="ctr">
              <a:buNone/>
              <a:defRPr sz="2000" i="1">
                <a:solidFill>
                  <a:srgbClr val="000000"/>
                </a:solidFill>
                <a:latin typeface="Georgia"/>
                <a:cs typeface="Georgi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EAF8F4-FD65-4831-598F-3BD6F74CE72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sz="1200" smtClean="0">
                <a:solidFill>
                  <a:srgbClr val="000000"/>
                </a:solidFill>
                <a:latin typeface="Georgia"/>
                <a:cs typeface="Georgia"/>
              </a:defRPr>
            </a:lvl1pPr>
          </a:lstStyle>
          <a:p>
            <a:pPr>
              <a:defRPr/>
            </a:pPr>
            <a:r>
              <a:rPr lang="en-US"/>
              <a:t>Presentation Name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5FD7FB-B368-5F9C-98F7-F6BEAB57386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defRPr>
            </a:lvl1pPr>
          </a:lstStyle>
          <a:p>
            <a:fld id="{5E7B247D-EEB4-9C43-8714-9657AD84D767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4120C83-62A2-A89D-E81E-FBEC93B10BE8}"/>
              </a:ext>
            </a:extLst>
          </p:cNvPr>
          <p:cNvGrpSpPr/>
          <p:nvPr userDrawn="1"/>
        </p:nvGrpSpPr>
        <p:grpSpPr>
          <a:xfrm>
            <a:off x="914400" y="6127433"/>
            <a:ext cx="10363200" cy="386081"/>
            <a:chOff x="685800" y="6127432"/>
            <a:chExt cx="7772400" cy="3860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18D3B2-2856-0483-35AA-158C7804B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02025" y="6127432"/>
              <a:ext cx="2133600" cy="15010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E650EAF-CEFA-EC98-9372-1E80707A73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685800" y="6417880"/>
              <a:ext cx="7772400" cy="95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567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7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065E6-C428-A63E-880A-D42B77C9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0BE61-BA12-D2BA-CF59-94D3BCC72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245CC-9FC1-1076-7125-99923BF4E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9C72E-B0D0-7A5A-A4CF-B3AE4202B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6D734-7298-8299-68E0-BD29E084C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2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674" r:id="rId7"/>
    <p:sldLayoutId id="2147483738" r:id="rId8"/>
    <p:sldLayoutId id="2147483739" r:id="rId9"/>
    <p:sldLayoutId id="2147483740" r:id="rId10"/>
    <p:sldLayoutId id="2147483741" r:id="rId11"/>
    <p:sldLayoutId id="2147483769" r:id="rId12"/>
    <p:sldLayoutId id="2147483770" r:id="rId13"/>
    <p:sldLayoutId id="21474837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oster of a company&#10;&#10;AI-generated content may be incorrect.">
            <a:extLst>
              <a:ext uri="{FF2B5EF4-FFF2-40B4-BE49-F238E27FC236}">
                <a16:creationId xmlns:a16="http://schemas.microsoft.com/office/drawing/2014/main" id="{7B7596B1-DE54-0246-41EA-BEB9CBB5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8720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33A4-886D-A720-C73C-A2BE5CF5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866"/>
            <a:ext cx="10515600" cy="3693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7BD7C-EB8D-2604-DF7C-0FFC09B54E6F}"/>
              </a:ext>
            </a:extLst>
          </p:cNvPr>
          <p:cNvSpPr txBox="1"/>
          <p:nvPr/>
        </p:nvSpPr>
        <p:spPr>
          <a:xfrm>
            <a:off x="236668" y="763793"/>
            <a:ext cx="11306287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Problem Statement Selection</a:t>
            </a:r>
            <a:endParaRPr lang="en-IN" sz="1100" dirty="0"/>
          </a:p>
          <a:p>
            <a:pPr lvl="1"/>
            <a:r>
              <a:rPr lang="en-IN" dirty="0"/>
              <a:t>Participants may choose </a:t>
            </a:r>
            <a:r>
              <a:rPr lang="en-IN" b="1" dirty="0"/>
              <a:t>one of the provided problem statements</a:t>
            </a:r>
            <a:r>
              <a:rPr lang="en-IN" dirty="0"/>
              <a:t> or define their </a:t>
            </a:r>
            <a:r>
              <a:rPr lang="en-IN" b="1" dirty="0"/>
              <a:t>own problem statement</a:t>
            </a:r>
            <a:r>
              <a:rPr lang="en-IN" dirty="0"/>
              <a:t>.</a:t>
            </a:r>
            <a:r>
              <a:rPr lang="en-IN" sz="1200" dirty="0"/>
              <a:t> </a:t>
            </a:r>
            <a:r>
              <a:rPr lang="en-IN" dirty="0"/>
              <a:t>If choosing your own, it </a:t>
            </a:r>
            <a:r>
              <a:rPr lang="en-IN" b="1" dirty="0"/>
              <a:t>must be relevant to the retail industry</a:t>
            </a:r>
            <a:r>
              <a:rPr lang="en-IN" dirty="0"/>
              <a:t>, including (but not limited to):</a:t>
            </a:r>
            <a:r>
              <a:rPr lang="en-IN" sz="1200" dirty="0"/>
              <a:t> </a:t>
            </a:r>
            <a:r>
              <a:rPr lang="en-IN" dirty="0"/>
              <a:t>E-commerce</a:t>
            </a:r>
            <a:r>
              <a:rPr lang="en-IN" sz="1200" dirty="0"/>
              <a:t>, </a:t>
            </a:r>
            <a:r>
              <a:rPr lang="en-IN" dirty="0"/>
              <a:t>Supply Chain</a:t>
            </a:r>
            <a:r>
              <a:rPr lang="en-IN" sz="1200" dirty="0"/>
              <a:t>, </a:t>
            </a:r>
            <a:r>
              <a:rPr lang="en-IN" dirty="0"/>
              <a:t>Data &amp; Analytics</a:t>
            </a:r>
            <a:r>
              <a:rPr lang="en-IN" sz="1200" dirty="0"/>
              <a:t>, </a:t>
            </a:r>
            <a:r>
              <a:rPr lang="en-IN" dirty="0"/>
              <a:t>Infrastructure</a:t>
            </a:r>
            <a:r>
              <a:rPr lang="en-IN" sz="1200" dirty="0"/>
              <a:t> </a:t>
            </a:r>
            <a:r>
              <a:rPr lang="en-IN" dirty="0"/>
              <a:t>Security</a:t>
            </a:r>
          </a:p>
          <a:p>
            <a:r>
              <a:rPr lang="en-IN" b="1" dirty="0"/>
              <a:t>2. Solution Approach</a:t>
            </a:r>
            <a:endParaRPr lang="en-IN" dirty="0"/>
          </a:p>
          <a:p>
            <a:pPr lvl="1"/>
            <a:r>
              <a:rPr lang="en-IN" dirty="0"/>
              <a:t>Each provided problem statement includes a </a:t>
            </a:r>
            <a:r>
              <a:rPr lang="en-IN" b="1" dirty="0"/>
              <a:t>suggested solution/output</a:t>
            </a:r>
            <a:r>
              <a:rPr lang="en-IN" dirty="0"/>
              <a:t>. Participants are </a:t>
            </a:r>
            <a:r>
              <a:rPr lang="en-IN" b="1" dirty="0"/>
              <a:t>encouraged to go beyond these suggestions</a:t>
            </a:r>
            <a:r>
              <a:rPr lang="en-IN" dirty="0"/>
              <a:t> and propose </a:t>
            </a:r>
            <a:r>
              <a:rPr lang="en-IN" b="1" dirty="0"/>
              <a:t>unique, creative, and well-justified solutions</a:t>
            </a:r>
            <a:r>
              <a:rPr lang="en-IN" dirty="0"/>
              <a:t>.</a:t>
            </a:r>
          </a:p>
          <a:p>
            <a:r>
              <a:rPr lang="en-IN" b="1" dirty="0"/>
              <a:t>3 Use of AI</a:t>
            </a:r>
            <a:endParaRPr lang="en-IN" sz="1100" dirty="0"/>
          </a:p>
          <a:p>
            <a:pPr lvl="1"/>
            <a:r>
              <a:rPr lang="en-IN" dirty="0"/>
              <a:t>The use of </a:t>
            </a:r>
            <a:r>
              <a:rPr lang="en-IN" b="1" dirty="0"/>
              <a:t>AI tools and technologies is highly encouraged</a:t>
            </a:r>
            <a:r>
              <a:rPr lang="en-IN" dirty="0"/>
              <a:t> across all phases, including:</a:t>
            </a:r>
            <a:r>
              <a:rPr lang="en-IN" sz="1200" dirty="0"/>
              <a:t> </a:t>
            </a:r>
            <a:r>
              <a:rPr lang="en-IN" dirty="0"/>
              <a:t>Problem understanding</a:t>
            </a:r>
            <a:r>
              <a:rPr lang="en-IN" sz="1200" dirty="0"/>
              <a:t>, </a:t>
            </a:r>
            <a:r>
              <a:rPr lang="en-IN" dirty="0"/>
              <a:t>Solution design</a:t>
            </a:r>
            <a:r>
              <a:rPr lang="en-IN" sz="1200" dirty="0"/>
              <a:t>, </a:t>
            </a:r>
            <a:r>
              <a:rPr lang="en-IN" dirty="0"/>
              <a:t>Development (final round)</a:t>
            </a:r>
            <a:r>
              <a:rPr lang="en-IN" sz="1200" dirty="0"/>
              <a:t> . </a:t>
            </a:r>
            <a:r>
              <a:rPr lang="en-IN" dirty="0"/>
              <a:t>Participants should be prepared to </a:t>
            </a:r>
            <a:r>
              <a:rPr lang="en-IN" b="1" dirty="0"/>
              <a:t>explain how AI influenced their approach and decisions</a:t>
            </a:r>
            <a:r>
              <a:rPr lang="en-IN" dirty="0"/>
              <a:t>.</a:t>
            </a:r>
          </a:p>
          <a:p>
            <a:r>
              <a:rPr lang="en-IN" b="1" dirty="0"/>
              <a:t>4. Judging Criteria</a:t>
            </a:r>
            <a:endParaRPr lang="en-IN" dirty="0"/>
          </a:p>
          <a:p>
            <a:pPr lvl="1"/>
            <a:r>
              <a:rPr lang="en-IN" dirty="0"/>
              <a:t>Submissions will be evaluated based on </a:t>
            </a:r>
            <a:r>
              <a:rPr lang="en-IN" b="1" dirty="0"/>
              <a:t>multiple criteria with different weightages</a:t>
            </a:r>
            <a:r>
              <a:rPr lang="en-IN" dirty="0"/>
              <a:t>. Participants are strongly advised to </a:t>
            </a:r>
            <a:r>
              <a:rPr lang="en-IN" b="1" dirty="0"/>
              <a:t>review the judging criteria carefully</a:t>
            </a:r>
            <a:r>
              <a:rPr lang="en-IN" dirty="0"/>
              <a:t> and align their approach accordingly.</a:t>
            </a:r>
          </a:p>
          <a:p>
            <a:r>
              <a:rPr lang="en-IN" b="1" dirty="0"/>
              <a:t>5. Submission Requirements</a:t>
            </a:r>
            <a:endParaRPr lang="en-IN" dirty="0"/>
          </a:p>
          <a:p>
            <a:pPr lvl="1"/>
            <a:r>
              <a:rPr lang="en-IN" dirty="0"/>
              <a:t>All submissions must be made using the </a:t>
            </a:r>
            <a:r>
              <a:rPr lang="en-IN" b="1" dirty="0"/>
              <a:t>official template provided</a:t>
            </a:r>
            <a:r>
              <a:rPr lang="en-IN" dirty="0"/>
              <a:t>. Additional material can be added as required.</a:t>
            </a:r>
          </a:p>
          <a:p>
            <a:r>
              <a:rPr lang="en-IN" b="1" dirty="0"/>
              <a:t>6. Presentation Format</a:t>
            </a:r>
            <a:endParaRPr lang="en-IN" sz="1100" dirty="0"/>
          </a:p>
          <a:p>
            <a:pPr lvl="1"/>
            <a:r>
              <a:rPr lang="en-IN" dirty="0"/>
              <a:t>Each team will have a total of </a:t>
            </a:r>
            <a:r>
              <a:rPr lang="en-IN" b="1" dirty="0"/>
              <a:t>15 minutes</a:t>
            </a:r>
            <a:r>
              <a:rPr lang="en-IN" dirty="0"/>
              <a:t>, divided as follows:</a:t>
            </a:r>
            <a:r>
              <a:rPr lang="en-IN" sz="1200" dirty="0"/>
              <a:t> </a:t>
            </a:r>
            <a:r>
              <a:rPr lang="en-IN" b="1" dirty="0"/>
              <a:t>10 minutes</a:t>
            </a:r>
            <a:r>
              <a:rPr lang="en-IN" dirty="0"/>
              <a:t> – Presentation</a:t>
            </a:r>
            <a:r>
              <a:rPr lang="en-IN" sz="1200" dirty="0"/>
              <a:t>, </a:t>
            </a:r>
            <a:r>
              <a:rPr lang="en-IN" b="1" dirty="0"/>
              <a:t>5 minutes</a:t>
            </a:r>
            <a:r>
              <a:rPr lang="en-IN" dirty="0"/>
              <a:t> – Q&amp;A with judges</a:t>
            </a:r>
            <a:endParaRPr lang="en-IN" sz="1200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sz="1200" dirty="0"/>
          </a:p>
          <a:p>
            <a:endParaRPr lang="en-IN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47844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FBC4A-784E-BC6A-62B1-E95BC602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Slide Number Placeholder 5">
            <a:extLst>
              <a:ext uri="{FF2B5EF4-FFF2-40B4-BE49-F238E27FC236}">
                <a16:creationId xmlns:a16="http://schemas.microsoft.com/office/drawing/2014/main" id="{06C0D12D-CEE9-C5C5-F309-D6EEA10057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305099D-C2FD-D94E-9EC5-DAE46F5A14C0}" type="slidenum">
              <a:rPr lang="en-US" altLang="en-US">
                <a:solidFill>
                  <a:srgbClr val="000000"/>
                </a:solidFill>
                <a:latin typeface="Georgia" panose="02040502050405020303" pitchFamily="18" charset="0"/>
              </a:rPr>
              <a:pPr/>
              <a:t>3</a:t>
            </a:fld>
            <a:endParaRPr lang="en-US" altLang="en-US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93CAF1-DE9D-50CB-DBE5-4782E72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2894"/>
            <a:ext cx="11516498" cy="798286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Judging Criteria</a:t>
            </a:r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B51157-E225-73F2-4468-5B02617D5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06021"/>
              </p:ext>
            </p:extLst>
          </p:nvPr>
        </p:nvGraphicFramePr>
        <p:xfrm>
          <a:off x="451070" y="665392"/>
          <a:ext cx="10427136" cy="47120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59385">
                  <a:extLst>
                    <a:ext uri="{9D8B030D-6E8A-4147-A177-3AD203B41FA5}">
                      <a16:colId xmlns:a16="http://schemas.microsoft.com/office/drawing/2014/main" val="2729004790"/>
                    </a:ext>
                  </a:extLst>
                </a:gridCol>
                <a:gridCol w="5990897">
                  <a:extLst>
                    <a:ext uri="{9D8B030D-6E8A-4147-A177-3AD203B41FA5}">
                      <a16:colId xmlns:a16="http://schemas.microsoft.com/office/drawing/2014/main" val="190845583"/>
                    </a:ext>
                  </a:extLst>
                </a:gridCol>
                <a:gridCol w="1376854">
                  <a:extLst>
                    <a:ext uri="{9D8B030D-6E8A-4147-A177-3AD203B41FA5}">
                      <a16:colId xmlns:a16="http://schemas.microsoft.com/office/drawing/2014/main" val="2146950627"/>
                    </a:ext>
                  </a:extLst>
                </a:gridCol>
              </a:tblGrid>
              <a:tr h="442924">
                <a:tc>
                  <a:txBody>
                    <a:bodyPr/>
                    <a:lstStyle/>
                    <a:p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Weightage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250658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IN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 alignment to problem statement</a:t>
                      </a:r>
                      <a:r>
                        <a:rPr lang="en-IN" sz="1600">
                          <a:effectLst/>
                        </a:rPr>
                        <a:t> 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Ability to understand/clearly state the problem statement. Does the solution address the problem effectively?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59600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AI assisted problem solving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How effective AI was used to break down the problem statement, thought process used to iterate intelligently with AI, how AI influenced the final design of the solution.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756479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Innovation &amp; Creativity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Is the solution provided unique in nature? How different it is from the current solutions available in the 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032908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AI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How effectively AI tools were used to build the solution.</a:t>
                      </a:r>
                      <a:r>
                        <a:rPr lang="en-IN" sz="1600"/>
                        <a:t> Prompt design/engineering  quality, Tool selection (LLMs, agents, MCP, A2A, etc.), Handling hallucinations /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97779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Technical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Quality of code generate by AI , architecture , tech stack used, data handling, API’s /Frameworks used, Security considerations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864524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Business impact &amp; Practicality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Real-world usefulness, scalability, and potential adoption</a:t>
                      </a:r>
                      <a:r>
                        <a:rPr lang="en-IN" sz="1600">
                          <a:effectLst/>
                        </a:rPr>
                        <a:t> 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404118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User experience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 design, ease of use, navigation, and visual appeal</a:t>
                      </a:r>
                      <a:r>
                        <a:rPr lang="en-IN" sz="1600">
                          <a:effectLst/>
                        </a:rPr>
                        <a:t> 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118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70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1BFB-CED3-2C82-E59B-7AA13186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TEAM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2C89-D95E-0BCC-DC79-83F727E0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 dirty="0"/>
              <a:t>Team Name</a:t>
            </a:r>
          </a:p>
          <a:p>
            <a:r>
              <a:rPr lang="en-US" dirty="0"/>
              <a:t>Project Title/Name</a:t>
            </a:r>
          </a:p>
          <a:p>
            <a:r>
              <a:rPr lang="en-US" dirty="0"/>
              <a:t>Members</a:t>
            </a:r>
          </a:p>
        </p:txBody>
      </p:sp>
    </p:spTree>
    <p:extLst>
      <p:ext uri="{BB962C8B-B14F-4D97-AF65-F5344CB8AC3E}">
        <p14:creationId xmlns:p14="http://schemas.microsoft.com/office/powerpoint/2010/main" val="245965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DFDA-45FE-D262-E001-01931503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679-F8A8-B30D-115B-54761357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548C0-5F0F-A8E2-0AC3-3FFFB4741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/>
              <a:t>Clearly Define the problem</a:t>
            </a:r>
          </a:p>
          <a:p>
            <a:r>
              <a:rPr lang="en-US"/>
              <a:t>Why it matters?</a:t>
            </a:r>
          </a:p>
        </p:txBody>
      </p:sp>
    </p:spTree>
    <p:extLst>
      <p:ext uri="{BB962C8B-B14F-4D97-AF65-F5344CB8AC3E}">
        <p14:creationId xmlns:p14="http://schemas.microsoft.com/office/powerpoint/2010/main" val="713388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1325-F2D3-43D3-5925-CEE3EFA9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4E11-021D-F5F2-324E-02C4AAA6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49FD-2417-CE5A-0F83-284FDB93B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 dirty="0"/>
              <a:t>High-Level Solution. Explain how this solution solves the problem</a:t>
            </a:r>
          </a:p>
          <a:p>
            <a:r>
              <a:rPr lang="en-US" dirty="0"/>
              <a:t>Key Features </a:t>
            </a:r>
          </a:p>
        </p:txBody>
      </p:sp>
    </p:spTree>
    <p:extLst>
      <p:ext uri="{BB962C8B-B14F-4D97-AF65-F5344CB8AC3E}">
        <p14:creationId xmlns:p14="http://schemas.microsoft.com/office/powerpoint/2010/main" val="82103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05FD-F03D-CD7A-F972-BA021CCE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80E6-A31A-E3C0-332D-5B49E314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AI Assisted 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1F86C-9301-3E0E-08BC-844E879BD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/>
              <a:t>How AI helped break down the problem</a:t>
            </a:r>
          </a:p>
          <a:p>
            <a:r>
              <a:rPr lang="en-US"/>
              <a:t>Iterations &amp; learning</a:t>
            </a:r>
          </a:p>
        </p:txBody>
      </p:sp>
    </p:spTree>
    <p:extLst>
      <p:ext uri="{BB962C8B-B14F-4D97-AF65-F5344CB8AC3E}">
        <p14:creationId xmlns:p14="http://schemas.microsoft.com/office/powerpoint/2010/main" val="3270530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26F5-FE30-E140-D328-76B75D3F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8694-679E-01D2-E53B-3712DDBD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AI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561E8-E1B8-034E-BAFA-40D9E07A7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/>
              <a:t>Tools used (LLMs, API, MCP servers,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r>
              <a:rPr lang="en-US"/>
              <a:t>Prompt strategy</a:t>
            </a:r>
          </a:p>
          <a:p>
            <a:r>
              <a:rPr lang="en-US"/>
              <a:t>Hallucination &amp;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312996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56D12-7CF9-2C1E-27D4-28FFF6E7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F57A-EFE7-468F-5B69-CCEE1588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010E2-3F32-C4A6-558F-02DCE8B36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/>
              <a:t>Systems design</a:t>
            </a:r>
          </a:p>
          <a:p>
            <a:r>
              <a:rPr lang="en-US"/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62078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82851-1EBB-73DD-7806-66C779E2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B10D-9BCF-DFBA-5A1B-C252222B4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 dirty="0"/>
              <a:t>Prototype/Demo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1E5E-E19A-86CF-6C92-B2907273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89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89BB0-6FE8-E0EF-850C-4E0EB35E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81B4-BF28-8812-6A75-BF5C5296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Challenges &amp;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E48B3-A807-0204-9BD6-980BDEA0E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 dirty="0"/>
              <a:t>Challenges faced in using AI</a:t>
            </a:r>
          </a:p>
          <a:p>
            <a:r>
              <a:rPr lang="en-US" dirty="0"/>
              <a:t>How did your team overcome?</a:t>
            </a:r>
          </a:p>
          <a:p>
            <a:r>
              <a:rPr lang="en-US" dirty="0"/>
              <a:t>If you have unlimited time and money how can you make the product better? </a:t>
            </a:r>
          </a:p>
        </p:txBody>
      </p:sp>
    </p:spTree>
    <p:extLst>
      <p:ext uri="{BB962C8B-B14F-4D97-AF65-F5344CB8AC3E}">
        <p14:creationId xmlns:p14="http://schemas.microsoft.com/office/powerpoint/2010/main" val="160665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1DDE-854D-A26C-EC17-A0F8D166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1893-596E-3E2D-00EC-95AAD05A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C8D3E-21F9-29AF-15A8-8BD10AE9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 dirty="0"/>
              <a:t>Anything else you would like to mention to us ?</a:t>
            </a:r>
          </a:p>
          <a:p>
            <a:r>
              <a:rPr lang="en-US" dirty="0"/>
              <a:t>How was your experience with the WSI AI-thon?  What can we do to improve next year?</a:t>
            </a:r>
          </a:p>
        </p:txBody>
      </p:sp>
    </p:spTree>
    <p:extLst>
      <p:ext uri="{BB962C8B-B14F-4D97-AF65-F5344CB8AC3E}">
        <p14:creationId xmlns:p14="http://schemas.microsoft.com/office/powerpoint/2010/main" val="323407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4bf08e-f496-473a-9b50-07869c310860">
      <Terms xmlns="http://schemas.microsoft.com/office/infopath/2007/PartnerControls"/>
    </lcf76f155ced4ddcb4097134ff3c332f>
    <TaxCatchAll xmlns="6a28aa2b-8dd2-470e-aafb-b72700391ca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5B8256155ADB429CBA9FDCC480D4BC" ma:contentTypeVersion="11" ma:contentTypeDescription="Create a new document." ma:contentTypeScope="" ma:versionID="c6f44e84f529d86ecd682f2e4949fa98">
  <xsd:schema xmlns:xsd="http://www.w3.org/2001/XMLSchema" xmlns:xs="http://www.w3.org/2001/XMLSchema" xmlns:p="http://schemas.microsoft.com/office/2006/metadata/properties" xmlns:ns2="274bf08e-f496-473a-9b50-07869c310860" xmlns:ns3="6a28aa2b-8dd2-470e-aafb-b72700391ca7" targetNamespace="http://schemas.microsoft.com/office/2006/metadata/properties" ma:root="true" ma:fieldsID="a1f08fd80b5ff1f5c1651925a170207c" ns2:_="" ns3:_="">
    <xsd:import namespace="274bf08e-f496-473a-9b50-07869c310860"/>
    <xsd:import namespace="6a28aa2b-8dd2-470e-aafb-b72700391c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bf08e-f496-473a-9b50-07869c3108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5c956d7-f784-42e1-b59c-5f38c674c6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28aa2b-8dd2-470e-aafb-b72700391ca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c04d65a-8f11-424d-87af-9414068e5146}" ma:internalName="TaxCatchAll" ma:showField="CatchAllData" ma:web="6a28aa2b-8dd2-470e-aafb-b72700391c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B56264-625B-4DED-A06C-A63731A5A1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D0E5B4-0A6F-4B27-86F6-42892AD68440}">
  <ds:schemaRefs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74bf08e-f496-473a-9b50-07869c310860"/>
    <ds:schemaRef ds:uri="6a28aa2b-8dd2-470e-aafb-b72700391ca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A56A0B6-6EFB-4DE6-AFD3-3CE83A2CF4CE}">
  <ds:schemaRefs>
    <ds:schemaRef ds:uri="274bf08e-f496-473a-9b50-07869c310860"/>
    <ds:schemaRef ds:uri="6a28aa2b-8dd2-470e-aafb-b72700391c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a1bc65b9-d590-4816-bc3f-257fce558750}" enabled="0" method="" siteId="{a1bc65b9-d590-4816-bc3f-257fce5587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6110</TotalTime>
  <Words>610</Words>
  <Application>Microsoft Office PowerPoint</Application>
  <PresentationFormat>Widescreen</PresentationFormat>
  <Paragraphs>74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Georgia</vt:lpstr>
      <vt:lpstr>Times New Roman</vt:lpstr>
      <vt:lpstr>Office Theme</vt:lpstr>
      <vt:lpstr>PowerPoint Presentation</vt:lpstr>
      <vt:lpstr>Instructions</vt:lpstr>
      <vt:lpstr>Judging Criteria</vt:lpstr>
      <vt:lpstr>TEAM SLIDE</vt:lpstr>
      <vt:lpstr>Problem Statement</vt:lpstr>
      <vt:lpstr>Solution Overview</vt:lpstr>
      <vt:lpstr>AI Assisted Problem Solving</vt:lpstr>
      <vt:lpstr>AI Engineering</vt:lpstr>
      <vt:lpstr>Technical Architecture</vt:lpstr>
      <vt:lpstr>Prototype/Demo</vt:lpstr>
      <vt:lpstr>Challenges &amp; Learning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Nobuko Minaga</dc:creator>
  <cp:lastModifiedBy>Abhishek Saraf</cp:lastModifiedBy>
  <cp:revision>5</cp:revision>
  <cp:lastPrinted>2025-03-18T15:55:52Z</cp:lastPrinted>
  <dcterms:created xsi:type="dcterms:W3CDTF">2023-09-23T02:40:10Z</dcterms:created>
  <dcterms:modified xsi:type="dcterms:W3CDTF">2026-04-10T14:42:07Z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118000.000000000</vt:lpwstr>
  </property>
  <property fmtid="{D5CDD505-2E9C-101B-9397-08002B2CF9AE}" pid="3" name="ContentTypeId">
    <vt:lpwstr>0x0101005E5B8256155ADB429CBA9FDCC480D4BC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</Properties>
</file>